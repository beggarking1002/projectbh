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90176284924b1b" /><Relationship Type="http://schemas.openxmlformats.org/officeDocument/2006/relationships/extended-properties" Target="/docProps/app.xml" Id="Rce104ad4a9ac4eab" /><Relationship Type="http://schemas.openxmlformats.org/officeDocument/2006/relationships/officeDocument" Target="/ppt/presentation.xml" Id="R106ef284d2db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30fed1336e4746"/>
  </p:sldMasterIdLst>
  <p:notesMasterIdLst>
    <p:notesMasterId xmlns:r="http://schemas.openxmlformats.org/officeDocument/2006/relationships" r:id="R1aa9a597fbd44321"/>
  </p:notesMasterIdLst>
  <p:sldIdLst>
    <p:sldId xmlns:r="http://schemas.openxmlformats.org/officeDocument/2006/relationships" id="256" r:id="R9fad25b029f044f1"/>
    <p:sldId xmlns:r="http://schemas.openxmlformats.org/officeDocument/2006/relationships" id="257" r:id="Reeb29cb42b4841b8"/>
    <p:sldId xmlns:r="http://schemas.openxmlformats.org/officeDocument/2006/relationships" id="258" r:id="Rd106476c8fca4667"/>
    <p:sldId xmlns:r="http://schemas.openxmlformats.org/officeDocument/2006/relationships" id="259" r:id="Re17a16781b6f4de6"/>
    <p:sldId xmlns:r="http://schemas.openxmlformats.org/officeDocument/2006/relationships" id="260" r:id="R4cf5cd6f798943e2"/>
    <p:sldId xmlns:r="http://schemas.openxmlformats.org/officeDocument/2006/relationships" id="261" r:id="Rbc1095d08d564219"/>
    <p:sldId xmlns:r="http://schemas.openxmlformats.org/officeDocument/2006/relationships" id="262" r:id="R16071cf51e694d1b"/>
    <p:sldId xmlns:r="http://schemas.openxmlformats.org/officeDocument/2006/relationships" id="263" r:id="Rc87ac079a534405d"/>
    <p:sldId xmlns:r="http://schemas.openxmlformats.org/officeDocument/2006/relationships" id="264" r:id="R948728ec558d4ac0"/>
    <p:sldId xmlns:r="http://schemas.openxmlformats.org/officeDocument/2006/relationships" id="265" r:id="Rad0bf807253747a7"/>
    <p:sldId xmlns:r="http://schemas.openxmlformats.org/officeDocument/2006/relationships" id="266" r:id="Rc382cb69d5b24941"/>
    <p:sldId xmlns:r="http://schemas.openxmlformats.org/officeDocument/2006/relationships" id="267" r:id="Rda870f670cc6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c963fbd3e34ca1" /><Relationship Type="http://schemas.openxmlformats.org/officeDocument/2006/relationships/slideMaster" Target="/ppt/slideMasters/slideMaster1.xml" Id="Ra430fed1336e4746" /><Relationship Type="http://schemas.openxmlformats.org/officeDocument/2006/relationships/notesMaster" Target="/ppt/notesMasters/notesMaster1.xml" Id="R1aa9a597fbd44321" /><Relationship Type="http://schemas.openxmlformats.org/officeDocument/2006/relationships/presProps" Target="/ppt/presProps.xml" Id="R3d41b01a78c3443b" /><Relationship Type="http://schemas.openxmlformats.org/officeDocument/2006/relationships/tableStyles" Target="/ppt/tableStyles.xml" Id="Reb29bc058ced49d0" /><Relationship Type="http://schemas.openxmlformats.org/officeDocument/2006/relationships/slide" Target="/ppt/slides/slide1.xml" Id="R9fad25b029f044f1" /><Relationship Type="http://schemas.openxmlformats.org/officeDocument/2006/relationships/slide" Target="/ppt/slides/slide2.xml" Id="Reeb29cb42b4841b8" /><Relationship Type="http://schemas.openxmlformats.org/officeDocument/2006/relationships/slide" Target="/ppt/slides/slide3.xml" Id="Rd106476c8fca4667" /><Relationship Type="http://schemas.openxmlformats.org/officeDocument/2006/relationships/slide" Target="/ppt/slides/slide4.xml" Id="Re17a16781b6f4de6" /><Relationship Type="http://schemas.openxmlformats.org/officeDocument/2006/relationships/slide" Target="/ppt/slides/slide5.xml" Id="R4cf5cd6f798943e2" /><Relationship Type="http://schemas.openxmlformats.org/officeDocument/2006/relationships/slide" Target="/ppt/slides/slide6.xml" Id="Rbc1095d08d564219" /><Relationship Type="http://schemas.openxmlformats.org/officeDocument/2006/relationships/slide" Target="/ppt/slides/slide7.xml" Id="R16071cf51e694d1b" /><Relationship Type="http://schemas.openxmlformats.org/officeDocument/2006/relationships/slide" Target="/ppt/slides/slide8.xml" Id="Rc87ac079a534405d" /><Relationship Type="http://schemas.openxmlformats.org/officeDocument/2006/relationships/slide" Target="/ppt/slides/slide9.xml" Id="R948728ec558d4ac0" /><Relationship Type="http://schemas.openxmlformats.org/officeDocument/2006/relationships/slide" Target="/ppt/slides/slide10.xml" Id="Rad0bf807253747a7" /><Relationship Type="http://schemas.openxmlformats.org/officeDocument/2006/relationships/slide" Target="/ppt/slides/slide11.xml" Id="Rc382cb69d5b24941" /><Relationship Type="http://schemas.openxmlformats.org/officeDocument/2006/relationships/slide" Target="/ppt/slides/slide12.xml" Id="Rda870f670cc6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458fe1228f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856f7327624f9b" /><Relationship Type="http://schemas.openxmlformats.org/officeDocument/2006/relationships/notesMaster" Target="/ppt/notesMasters/notesMaster1.xml" Id="R64152fc353b048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a07d690a174042" /><Relationship Type="http://schemas.openxmlformats.org/officeDocument/2006/relationships/notesMaster" Target="/ppt/notesMasters/notesMaster1.xml" Id="R189379890d5a4f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16a58cabd84d2a" /><Relationship Type="http://schemas.openxmlformats.org/officeDocument/2006/relationships/notesMaster" Target="/ppt/notesMasters/notesMaster1.xml" Id="R2771ff7f10884f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6db7b9cac84ee6" /><Relationship Type="http://schemas.openxmlformats.org/officeDocument/2006/relationships/notesMaster" Target="/ppt/notesMasters/notesMaster1.xml" Id="R2bdecb748d0d47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419f907c854a60" /><Relationship Type="http://schemas.openxmlformats.org/officeDocument/2006/relationships/notesMaster" Target="/ppt/notesMasters/notesMaster1.xml" Id="R7226b2d615af4d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7ce345534d4343" /><Relationship Type="http://schemas.openxmlformats.org/officeDocument/2006/relationships/notesMaster" Target="/ppt/notesMasters/notesMaster1.xml" Id="R9a9552a1d3504b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9d5de0310a4070" /><Relationship Type="http://schemas.openxmlformats.org/officeDocument/2006/relationships/notesMaster" Target="/ppt/notesMasters/notesMaster1.xml" Id="R69bb314af4e149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8af8a898d44d7b" /><Relationship Type="http://schemas.openxmlformats.org/officeDocument/2006/relationships/notesMaster" Target="/ppt/notesMasters/notesMaster1.xml" Id="Rfd91ca7ffab141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dfc0547bec4d80" /><Relationship Type="http://schemas.openxmlformats.org/officeDocument/2006/relationships/notesMaster" Target="/ppt/notesMasters/notesMaster1.xml" Id="R251d61ab8daa45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f4255b93fa466c" /><Relationship Type="http://schemas.openxmlformats.org/officeDocument/2006/relationships/notesMaster" Target="/ppt/notesMasters/notesMaster1.xml" Id="Ra38bb55a343246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5c7891a7934405" /><Relationship Type="http://schemas.openxmlformats.org/officeDocument/2006/relationships/notesMaster" Target="/ppt/notesMasters/notesMaster1.xml" Id="R1abbda85ea4f44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dd8c1479bb4547" /><Relationship Type="http://schemas.openxmlformats.org/officeDocument/2006/relationships/notesMaster" Target="/ppt/notesMasters/notesMaster1.xml" Id="R5f6c6975b372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design SSOT: C:/UE5/ProjectBH/ProjectBH/기획/몬스터 이동 시스템 규칙.md</a:t>
            </a:r>
          </a:p>
          <a:p xmlns:a="http://schemas.openxmlformats.org/drawingml/2006/main">
            <a:r>
              <a:t>- Local implementation: C:/UE5/ProjectBH/Source/ProjectBH/Components/Combat/CombatEngagementSlotComponent.h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§3 기본 원칙, §7 전투 상태와 이동 허용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§3.1 이동 책임의 계층, §4 구성 요소와 책임</a:t>
            </a:r>
          </a:p>
          <a:p xmlns:a="http://schemas.openxmlformats.org/drawingml/2006/main">
            <a:r>
              <a:t>- C:/UE5/ProjectBH/Source/ProjectBH/AI/BHCrowdEnemyAIController.cpp</a:t>
            </a:r>
          </a:p>
          <a:p xmlns:a="http://schemas.openxmlformats.org/drawingml/2006/main">
            <a:r>
              <a:t>- C:/UE5/ProjectBH/Source/ProjectBH/Components/Combat/CombatEngagementSlotComponent.cpp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§7 Enemy 전투 상태와 이동 허용, §10 초기 대형 편성</a:t>
            </a:r>
          </a:p>
          <a:p xmlns:a="http://schemas.openxmlformats.org/drawingml/2006/main">
            <a:r>
              <a:t>- C:/UE5/ProjectBH/Source/ProjectBH/AI/BHCrowdEnemyAIController.h — EngagementEnterRadius, EngagementExitRadius, movement speeds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§8 전투 자리 구조</a:t>
            </a:r>
          </a:p>
          <a:p xmlns:a="http://schemas.openxmlformats.org/drawingml/2006/main">
            <a:r>
              <a:t>- C:/UE5/ProjectBH/Source/ProjectBH/Components/Combat/CombatEngagementSlotComponent.h — AttackSlotCount, WaitSlotCount, HoldingSlotCount, ring radii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§20 전투 공간 분석과 §21 공간별 대형</a:t>
            </a:r>
          </a:p>
          <a:p xmlns:a="http://schemas.openxmlformats.org/drawingml/2006/main">
            <a:r>
              <a:t>- C:/UE5/ProjectBH/ProjectBH/작업 기록/2026-08-29 - 전투 공간 분석기 1단계 구현.md</a:t>
            </a:r>
          </a:p>
          <a:p xmlns:a="http://schemas.openxmlformats.org/drawingml/2006/main">
            <a:r>
              <a:t>- C:/UE5/ProjectBH/ProjectBH/작업 기록/2026-08-29 - Open 밀도 및 Pocket 부채꼴 대형 구현.md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C:/UE5/ProjectBH/ProjectBH/작업 기록/2026-08-30 - Attack Slot 5개 및 양방향 Corridor 구현.md</a:t>
            </a:r>
          </a:p>
          <a:p xmlns:a="http://schemas.openxmlformats.org/drawingml/2006/main">
            <a:r>
              <a:t>- C:/UE5/ProjectBH/ProjectBH/작업 기록/2026-08-29 - Corridor Lane Queue 규칙 구현.md</a:t>
            </a:r>
          </a:p>
          <a:p xmlns:a="http://schemas.openxmlformats.org/drawingml/2006/main">
            <a:r>
              <a:t>- C:/UE5/ProjectBH/Source/ProjectBH/Components/Combat/CombatEngagementSlotComponent.cpp — corridor side/channel admission and repacking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§12 Runtime 승격 규칙, §18 교착 감시와 복구</a:t>
            </a:r>
          </a:p>
          <a:p xmlns:a="http://schemas.openxmlformats.org/drawingml/2006/main">
            <a:r>
              <a:t>- C:/UE5/ProjectBH/Source/ProjectBH/AI/BHCrowdEnemyAIController.h — StuckTimeout and progress thresholds</a:t>
            </a:r>
          </a:p>
          <a:p xmlns:a="http://schemas.openxmlformats.org/drawingml/2006/main">
            <a:r>
              <a:t>- C:/UE5/ProjectBH/Source/ProjectBH/Components/Combat/CombatEngagementSlotComponent.cpp — promotion candidate scoring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§8 Engagement Anchor, §16 Move 요청 규칙</a:t>
            </a:r>
          </a:p>
          <a:p xmlns:a="http://schemas.openxmlformats.org/drawingml/2006/main">
            <a:r>
              <a:t>- C:/UE5/ProjectBH/ProjectBH/작업 기록/2026-08-29 - 포위 범위 Player Focus 이동.md</a:t>
            </a:r>
          </a:p>
          <a:p xmlns:a="http://schemas.openxmlformats.org/drawingml/2006/main">
            <a:r>
              <a:t>- C:/UE5/ProjectBH/ProjectBH/작업 기록/2026-08-29 - Wait Slot 도착 회전 전환 분리.md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§4.6 EnemyPoolManager, §19 Object Pool</a:t>
            </a:r>
          </a:p>
          <a:p xmlns:a="http://schemas.openxmlformats.org/drawingml/2006/main">
            <a:r>
              <a:t>- C:/UE5/ProjectBH/Source/ProjectBH/Enemies/BHEnemyPoolManager.cpp</a:t>
            </a:r>
          </a:p>
          <a:p xmlns:a="http://schemas.openxmlformats.org/drawingml/2006/main">
            <a:r>
              <a:t>- C:/UE5/ProjectBH/Source/ProjectBH/Enemies/BHEnemy.cpp — death cleanup and pool handoff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C:/UE5/ProjectBH/Source/ProjectBH/Components/Combat/CombatEngagementSlotComponent.cpp</a:t>
            </a:r>
          </a:p>
          <a:p xmlns:a="http://schemas.openxmlformats.org/drawingml/2006/main">
            <a:r>
              <a:t>- C:/UE5/ProjectBH/Source/ProjectBH/AI/BHCrowdEnemyAIController.cpp</a:t>
            </a:r>
          </a:p>
          <a:p xmlns:a="http://schemas.openxmlformats.org/drawingml/2006/main">
            <a:r>
              <a:t>- C:/UE5/ProjectBH/Source/ProjectBH/Enemies/BHEnemyPoolManager.cpp</a:t>
            </a:r>
          </a:p>
          <a:p xmlns:a="http://schemas.openxmlformats.org/drawingml/2006/main">
            <a:r>
              <a:t>- C:/UE5/ProjectBH/ProjectBH/작업 기록/2026-08-29 - 런타임 디버그 표시 토글 구현.md</a:t>
            </a:r>
          </a:p>
          <a:p xmlns:a="http://schemas.openxmlformats.org/drawingml/2006/main">
            <a:r>
              <a:t>- C:/UE5/ProjectBH/ProjectBH/작업 기록/2026-08-30 - Attack Slot 5개 및 양방향 Corridor 구현.md — build result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최신 Corridor 양방향 및 Pocket 대형은 코드 구현과 에디터 빌드는 완료됐으나, 실제 플레이 품질은 PIE 영상과 디버그 오버레이로 추가 증명한다.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C:/UE5/ProjectBH/ProjectBH/기획/몬스터 이동 시스템 규칙.md — §25 검증 체크리스트 and 현행 주의사항</a:t>
            </a:r>
          </a:p>
          <a:p xmlns:a="http://schemas.openxmlformats.org/drawingml/2006/main">
            <a:r>
              <a:t>- C:/UE5/ProjectBH/ProjectBH/작업 기록/2026-08-30 - Attack Slot 5개 및 양방향 Corridor 구현.md — PIE verification list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c43bcca0341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efadbe4345488b" /><Relationship Type="http://schemas.openxmlformats.org/officeDocument/2006/relationships/slideLayout" Target="/ppt/slideLayouts/slideLayout1.xml" Id="R1c451f67683746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451f67683746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a84885b484f95" /><Relationship Type="http://schemas.openxmlformats.org/officeDocument/2006/relationships/notesSlide" Target="/ppt/notesSlides/notesSlide1.xml" Id="Rd6f330b4c7e84a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b3db5b5a04237" /><Relationship Type="http://schemas.openxmlformats.org/officeDocument/2006/relationships/notesSlide" Target="/ppt/notesSlides/notesSlide2.xml" Id="R84d85ae6d53841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076661c754aab" /><Relationship Type="http://schemas.openxmlformats.org/officeDocument/2006/relationships/notesSlide" Target="/ppt/notesSlides/notesSlide3.xml" Id="Rcfaf12a10bb24b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5f16b821e4e29" /><Relationship Type="http://schemas.openxmlformats.org/officeDocument/2006/relationships/notesSlide" Target="/ppt/notesSlides/notesSlide4.xml" Id="R777692c07d2941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489d0fc044f03" /><Relationship Type="http://schemas.openxmlformats.org/officeDocument/2006/relationships/notesSlide" Target="/ppt/notesSlides/notesSlide5.xml" Id="R6f78c583bbf145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668d11a5e4204" /><Relationship Type="http://schemas.openxmlformats.org/officeDocument/2006/relationships/notesSlide" Target="/ppt/notesSlides/notesSlide6.xml" Id="R1b26c6e612b347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eedfd5c074982" /><Relationship Type="http://schemas.openxmlformats.org/officeDocument/2006/relationships/notesSlide" Target="/ppt/notesSlides/notesSlide7.xml" Id="Rd3cf93e82a8641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eedaf7a4d4740" /><Relationship Type="http://schemas.openxmlformats.org/officeDocument/2006/relationships/notesSlide" Target="/ppt/notesSlides/notesSlide8.xml" Id="R409fdc0a06df4e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fae3597434a5d" /><Relationship Type="http://schemas.openxmlformats.org/officeDocument/2006/relationships/notesSlide" Target="/ppt/notesSlides/notesSlide9.xml" Id="R9ac824fe97f8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8fdb1e4784d04" /><Relationship Type="http://schemas.openxmlformats.org/officeDocument/2006/relationships/notesSlide" Target="/ppt/notesSlides/notesSlide10.xml" Id="R35530332afdb4a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a18614e6e4174" /><Relationship Type="http://schemas.openxmlformats.org/officeDocument/2006/relationships/notesSlide" Target="/ppt/notesSlides/notesSlide11.xml" Id="Rf8e33ab3201543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05c0c208149df" /><Relationship Type="http://schemas.openxmlformats.org/officeDocument/2006/relationships/notesSlide" Target="/ppt/notesSlides/notesSlide12.xml" Id="Rd4efad2c66e140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C0C181-747F-44F7-9DF4-C9E6295F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22E29-8887-452B-A457-B201E05F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SYSTEM DESIGN + UE5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3D52F-A983-44D9-B151-464476AB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몬스터 떼,</a:t>
            </a:r>
          </a:p>
          <a:p xmlns:a="http://schemas.openxmlformats.org/drawingml/2006/main">
            <a:pPr algn="l">
              <a:defRPr sz="4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어떻게 행동할 것인가?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1711D-3133-4DF3-B169-E1F29533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공간을 읽고, 자리를 예약하고,</a:t>
            </a:r>
          </a:p>
          <a:p xmlns:a="http://schemas.openxmlformats.org/drawingml/2006/main">
            <a:pPr algn="l">
              <a:defRPr sz="18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혼잡 속에서도 전투 대형을 유지하는 군중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D0ED4-F31B-47BD-A7AF-55814567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8E19E-3096-4DAF-B023-B8FBF5C6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PORTFOLIO DRAFT · 2026.08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39E0B-848A-4639-AF11-BB19036D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"/>
            <a:ext cx="4457700" cy="58102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87CEE-64EE-4D71-A809-B6A159D8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621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1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C37F6-9A7A-465F-B208-797D5B86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166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8FE92-579A-4C6B-A290-3CFBB522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E65DC-87FC-4A5B-A2A7-06B6E15B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00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DDB1D-2B84-4859-9A96-7074A381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62238"/>
                </a:solidFill>
                <a:latin typeface="Malgun Gothic"/>
                <a:ea typeface="Malgun Gothic"/>
                <a:cs typeface="Malgun Gothic"/>
              </a:rPr>
              <a:t>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56ABE-41F5-4846-BA9C-94BB9C2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28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40816-9AA9-4709-98E4-2D691C06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530" y="295540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5607E-945A-47AD-9B1C-850D1270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717" y="380734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2ABB4-5F69-4050-A641-CC4EF67A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9933" y="3807346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C152A-4DD9-4B23-846B-09C2158D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120" y="2955404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07F2B-ABC4-4E6D-90AB-60C8A7A1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917" y="198557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2C514-1478-4BE2-8AF7-25D155C5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462" y="247502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D60C4-EDEC-4F5A-9FEB-2A574F42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221" y="3394967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FA1FC-7744-422E-8379-52F98FD8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774" y="420651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94DCC-3ACD-4376-9710-5401E708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33" y="443427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6C495-D4F9-4236-9A7A-A91C54A8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288" y="394482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0788E-88E7-4121-B184-1CDAE77E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529" y="302488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55DCF-E21B-4D61-80B4-CD9676D0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976" y="22133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F3FF2-8463-4C7A-8AFC-909486EE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544" y="157200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CA6E8-860D-452C-A7A4-8AAA899F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626" y="204477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366AA1-03E0-4E35-95BA-608990AA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694" y="282975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DBC240-06A9-4A6B-ADDA-CB81AC35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799" y="37165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EE909F-CED4-45DB-A923-FDD69D60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2024" y="446767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EC1C71-9547-4CA5-92AD-7CC20C53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049" y="488174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BABCD-4882-4458-BFF8-96580E43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206" y="484784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DBD84C-9588-4D63-BADD-5671E7D8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124" y="437507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18046D-6072-4E78-9D5C-B78933A8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056" y="359009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648CC5-3D67-4514-AE1D-2C446023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951" y="270325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F7B1F3-FAFD-4E3E-B08A-415007E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26" y="195217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0415D5-C1DE-4090-930C-DD5E8C2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701" y="15381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5A32C-9EED-4A72-B037-10840BF9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816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D4AB98-7709-4D97-89EF-962701B8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9115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ATTACK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CCA627-2AD3-4115-BDB4-4A3629A0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8162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735B8C-E4D4-484B-B876-B952546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911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8 WAIT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4288C7-68B9-42A8-A5C6-0E851559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38162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A59669-043D-4F93-A4B5-64D721E7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391150"/>
            <a:ext cx="971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16 HOLD</a:t>
            </a:r>
          </a:p>
        </p:txBody>
      </p:sp>
    </p:spTree>
    <p:extLst>
      <p:ext uri="{BB962C8B-B14F-4D97-AF65-F5344CB8AC3E}">
        <p14:creationId xmlns:p14="http://schemas.microsoft.com/office/powerpoint/2010/main" val="678376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57E6E6-0159-462D-AC9A-EA67C00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17005-C613-4DD1-A68C-8ACAEDA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MoveTo만으로는 ‘떼’가 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669B3-629E-4B56-97A6-4FDC7999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한 명씩 쫓는 AI를 넘어, 집단이 전투 공간을 사용하는 규칙이 필요했다.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F5B4F-E289-4FEF-9DEF-CE61AEB8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D4D7C-73A1-4DFD-99BA-31A4BD22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ED472-2458-43AC-8117-7DE95B39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14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C8331-E90D-4177-9769-74536251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9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86897-15E5-4E2D-9130-451E0116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저돌성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BF8E5-C523-4239-B7C1-1D941D63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플레이어를 향해 빠르게 몰려오되</a:t>
            </a:r>
          </a:p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도착 전에 눈치를 보는 인상을 없앤다.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28F2E-AE80-4327-BA32-515B3F1A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BAB1A-4B15-4988-A4A1-F790E59A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추격 속도·초기 돌진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05458-A31F-4F13-9700-B9893405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2385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BEE30-F607-4CEE-BC73-FB68ACF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14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48FA7-3527-41A5-93EF-8A0FD630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9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1B53D-AA4B-4980-9D0C-702CCA49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공간 존중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B3C20-8E3F-490D-9A7A-71B94FBB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동일 좌표로 수렴하지 않고</a:t>
            </a:r>
          </a:p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공격·대기 자리를 명시적으로 나눈다.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D6FBA-6452-4AA1-B1D6-D6420F7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0DD66-2FDC-45CE-8135-B05E7D9D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24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Slot·Queue·Crowd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53B3B-A802-4004-B945-BAF2F471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32385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44D3B-178E-4C07-A5FB-CC1B7C56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314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CD16F-D3EF-47EB-A411-6E84501C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09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A7AFC3-E11F-4FE3-99A7-D57179E6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환경 적응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B7077-D55E-4904-8154-B617E77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광장·통로·구석에서 같은 원형</a:t>
            </a:r>
          </a:p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대형을 강요하지 않는다.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2C87E-104C-47DB-BF83-8E27E65E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E8606-BB12-453E-9B2E-AAF2BDEA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24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공간 분석·대형 전환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E6FC3-AAC1-4505-BD7C-51BDE9B1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363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C73627-C39E-4DB6-B0E0-58D4F5EF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설계 질문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A3948-0F46-4801-A469-CB4EA3D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“누가 어디로, 언제 이동하고, 실패하면 어떻게 복구할 것인가?”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2241C-BDBC-4502-A457-09582DA2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C10F4-A950-41E5-88F0-D1D04E48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7492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5102E-E663-4EF6-9B01-780FFD43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BBE9F-DDFD-453E-8B97-2AB1578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내장 내비게이션 위에 행동 규칙을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2C884-4142-42BA-B073-613AD932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NavMesh는 길을 찾고, 커스텀 시스템은 목적지·순서·복구를 결정한다.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6ED88-9D7C-44CA-8378-253007DB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95A52-9D18-45B8-8127-7B43DFB7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4F2CD-16C4-4051-912D-AD8E9676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UE NAVMESH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DF947-EEE2-4A8A-8EDC-41247C6A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경로 탐색</a:t>
            </a:r>
          </a:p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도달 가능성</a:t>
            </a:r>
          </a:p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NavMesh 투영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9B2E3-8A3D-4D24-89EA-E5B6592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38125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B5A8B-608E-4EB9-A0A0-A15A34D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DETOUR CROWD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07BBD-DB8F-4BF9-B57A-1C8DBBA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근거리 회피</a:t>
            </a:r>
          </a:p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Separation</a:t>
            </a:r>
          </a:p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속도 조향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7017E-25EB-4FF8-9B78-2BF87533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506730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C6048-C616-4E48-A887-99583D73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CUSTOM ENGAGEMENT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45D57-F151-4B75-AA62-53AB3AD2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4610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Slot 예약 · 중앙 Queue · 공간 분석 · 승격 · 교착 복구 · Object Pool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7E1F1-1F70-4C6B-8E62-FF9F4EFE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86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69068-742A-47F6-ABF3-9DC6CF33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D3CA0-F2DA-48D8-ABE3-6523611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05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59BFE-19ED-46ED-8975-57D28D64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05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1179E-4B33-4177-A929-C15CFE58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목적지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F4BAE-89AB-4C96-869F-A0506EBC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Attack / Wait / Holding / 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68471-CC0B-4FF5-8299-BA4E40BC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76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순서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68077-B752-4D33-B0E4-72AD314A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도착 조건 + Sequence + 경로 비용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145FA-1AE4-4B72-80A8-0F1AFD2D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76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복구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DD8F6-AA4B-490E-AFFC-C56064EB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Watchdog + Slot 반납 + 재예약 제외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44D19-B79A-4ED9-8E3A-783D46CE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36320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DD03E-0DA1-48CD-BA4C-4B413B27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24D10-4F84-4704-8FB7-AD22D0CB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엔진 기능은 이동 기반, 포트폴리오의 설계 대상은 ‘집단 의사결정’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76A602-EEE5-4C0F-8179-829C3EB9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9BCACD-B734-489C-BA8C-185732AA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2308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F91BE8-4AAB-4B76-B895-FDDCB54B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 · CORE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1DAD7-D748-4A28-BE89-6158078D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추격과 포위는 하나의 연속 흐름으로 동작한다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A9933-75CA-45DC-BF83-4056160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거리·전투 상태·예약 상태가 이동 의도를 결정한다.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4F97C-2909-4CCC-BDE1-943BF5A6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2657B-6398-4DC2-8C1F-A939EF68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324100" cy="2152650"/>
          </a:xfrm>
          <a:prstGeom xmlns:a="http://schemas.openxmlformats.org/drawingml/2006/main" prst="roundRect">
            <a:avLst>
              <a:gd name="adj" fmla="val 885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2FB5D-2117-4A64-9626-7B3CF07E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324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A1ED3-6415-45B4-9A7A-4DCA7F5B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PURSUIT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A4882-B235-416D-875D-24349040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60822-F748-4E18-93B2-15D08F3B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&gt; 700 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6BF8B-1B9A-4F35-AEAB-0080215E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Slot 없이 플레이어 예측 위치로</a:t>
            </a:r>
          </a:p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500 cm/s 전력 추격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9923B-7210-4341-B557-E6DF5905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24100" cy="2152650"/>
          </a:xfrm>
          <a:prstGeom xmlns:a="http://schemas.openxmlformats.org/drawingml/2006/main" prst="roundRect">
            <a:avLst>
              <a:gd name="adj" fmla="val 885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4413F-13C2-4B52-802A-584CF20F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324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3D9F4-1399-404F-B40A-8AB49B44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0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CF8C3-7D5E-43D7-9827-D47B0C15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F0B06-7806-45AA-B9D2-882644EF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2897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≤ 700 cm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7051B-5D05-447F-B7D8-C0B0884F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14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초기 돌진 후 예약된 위치로</a:t>
            </a:r>
          </a:p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대형 참여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E2F4D-8CC1-424A-861B-45E2BBA3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324100" cy="2152650"/>
          </a:xfrm>
          <a:prstGeom xmlns:a="http://schemas.openxmlformats.org/drawingml/2006/main" prst="roundRect">
            <a:avLst>
              <a:gd name="adj" fmla="val 885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01D2B-C204-41E5-93DD-2284A149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324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7D7E6-0568-4D50-81ED-0F6B41C7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ATTACK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0FB9E-157F-4921-91BF-B0350442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194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E6BFC-8765-4A15-A90E-B043E1C5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2897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Attack Slot 도착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2F5DB-3FBA-4F21-9E66-470D03FC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정지 → 공격 → 회복</a:t>
            </a:r>
          </a:p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Slot은 유지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96FB1-6865-4B2C-9CEE-8943235A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2324100" cy="2152650"/>
          </a:xfrm>
          <a:prstGeom xmlns:a="http://schemas.openxmlformats.org/drawingml/2006/main" prst="roundRect">
            <a:avLst>
              <a:gd name="adj" fmla="val 885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6B49C-CF38-4AE6-B7C1-64C02FF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2324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5DEFD-38CD-4CED-A0EC-512BEBDE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RECOVERY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C89CB-580D-4845-8AEE-F74E934C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194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51D27-E43E-46FF-B833-FC7ED1F5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2897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실패 / 경직 / 사망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215B04-E15E-4E43-BA1A-731CD3F7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147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이동 잠금 또는 예약 반납</a:t>
            </a:r>
          </a:p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필요 시 재진입</a:t>
            </a:r>
          </a:p>
        </p:txBody>
      </p:sp>
      <p:cxnSp>
        <p:nvCxnSpPr>
          <p:cNvPr id="6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71800" y="3552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753100" y="3552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534400" y="3552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3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1809750" y="4629150"/>
            <a:ext cx="83439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8BCC4"/>
            </a:solidFill>
            <a:prstDash val="dash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C9233C-CEE4-4C7F-B4D8-E42EDCDF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이탈 히스테리시스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7BD13-A3C6-4832-AC99-DF81A05C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Formation 진입 700 cm / 이탈 900 cm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44FBAB-20AE-444B-BD4D-F35DB10A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91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공격 후 자리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FDC226-6821-4FD7-BB5F-6DD74B0D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86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공격·회복이 끝나도 Attack Slot 유지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2E816B-535A-4C2D-B25A-4C025234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91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바라보기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BDC5A5-C419-484C-8824-CE41CC9C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86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포위 중 Player Focus, 외곽 추격은 이동 방향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D8037-4CEB-4BB0-AE67-0B2C1D47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AE139-C457-4055-B4E6-2FDAB54E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9469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BDA3E9-DAE0-4AE8-B3F8-0F134EB7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ENGAGEMENT SLOTS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771FA-0F68-43E3-990D-3B8E8857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29개의 예약 자리와 무제한 외곽 대기열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3C1F2-B6C4-4328-A9E0-B7C64D7A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가까운 Enemy 모두가 같은 목적지를 향하지 않도록 역할과 반경을 분리했다.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58467-C6BE-421B-9524-DF1A3DF0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A35BF-7B59-4CED-B92A-90A7C030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952625"/>
            <a:ext cx="3714750" cy="3714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C9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E9E93-6ADE-4B17-8BA6-8661E4B3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76500"/>
            <a:ext cx="2667000" cy="2667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C7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57AF8-574D-4842-872E-E51729DD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1676400" cy="1676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C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309AE-7911-42E4-A7CF-4315B676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5D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CFDB5-8700-4773-AB0F-4A53FC6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81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8E594-DB41-4459-BBA9-C222990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76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C1069-85B5-48C5-B94A-C8C92BC1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330041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ABF3-735D-41AD-A085-DCDF78A0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418" y="3603167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62EAF-F610-461D-A7BE-E4A389FA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251" y="409303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5BF54-24C3-4147-AAC5-6876E3AC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174" y="409303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ED799-1FFC-4D39-BA82-5B88B4E3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007" y="3603167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E4F9B-991A-40AA-B707-586E46A6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049" y="290375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47875-0F7D-49A6-8AEA-BD5A747D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281" y="320153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FF059-C151-4161-9E05-1661DAFE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520" y="3813899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79409-3825-47FF-8D04-066687BF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740" y="4382131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FA422-89D2-4AAE-B431-224C3024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376" y="457337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DB0A9-AE48-44F1-B4CD-7B7B4D06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144" y="427559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A396C-87C2-4D57-B044-B1E63BE0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905" y="3663226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DBDFA4-B534-4BDD-A447-D69CF37C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685" y="3094994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976F9-CB34-46A8-807C-8DCBD668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498" y="244565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DD217-9416-41D9-A27D-869570A2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492" y="274079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1B48A-75A1-4C04-B043-5F2BFE5E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317" y="330838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A45DB-8F7B-44A9-A5CA-F1794612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18" y="399634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29A61-14E4-436D-8B71-F5FAFE33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581" y="462034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689F3D-B0C1-4CA5-93BF-555D0924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989" y="501316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07745-7BE6-48B7-AC27-32D6237E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27" y="506956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4FEAF3-71A0-44FA-9F7A-A6D6621E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033" y="477443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BD3379-FC76-4A53-85B7-E1C728C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208" y="42068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B1BC2-7543-4F91-9962-31324189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807" y="351887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A3DE0-BDCB-4E70-89D5-603A28AC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944" y="28948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861B38-5397-4D29-818D-D4AB1655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36" y="250205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4F5ACD-CFF4-4FA0-A0EB-ECF3A80C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183" y="19675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9DAF42-3A15-484E-BEC3-75CAA21A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507" y="229338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B4783A-5F18-48F5-9116-C8F38BA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858" y="284214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485F2-0A81-49B0-A91F-F452BEC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174" y="353028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27ADC9-32D9-4B3D-A4E6-201D2823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846" y="42530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5FE70-8C22-4C3E-B946-7D289658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995" y="490035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BA66CF-DD37-4A97-A05D-722B55AF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228" y="537370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9F70EF-06DA-49EC-8627-479980F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089" y="560102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8D7FBB-647D-4E42-82AF-509FC33F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342" y="554769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78D886-A412-42A0-9BCB-2A95B417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018" y="52218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173934-5928-48AA-9DD7-36512671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667" y="467307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B91DC6-EB83-4661-BC95-F31781F5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351" y="39849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B42F1B-474E-40F0-90CB-C4E16A63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679" y="326219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4DC91E-3302-4175-9960-03229669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530" y="261486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5A933C-43C9-4854-B609-13F2D3B0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297" y="2141517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050CDC-CA9D-4A1D-8374-422D4536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436" y="191420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0C2E16-EAD0-4CCF-94EB-307B6846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C1D650-D0D0-41A5-B669-CFD2CB83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295322-4831-469C-96EF-18E0F23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반경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9F7897-3713-4A7F-A4CA-F4CDD78C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행동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D7E3D0-1724-48EA-8857-37389C90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E5E7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4F6811-F648-451A-97E7-75A917B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46D84F-5963-4596-BBE4-14CA8933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ATTACK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BF8414-CC5A-4569-9923-41CD78F2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F4AF98-9E7C-4A47-A580-5AB74B47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125 cm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C1B85F-109A-4EA5-8EF8-8EB31EC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289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공격 권한 + 자리 유지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682C44-6979-4244-B210-C4C7F416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393705-3FA0-4FFF-839B-555F660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826D94-49BD-4CB3-9890-91145C2D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WAIT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502962-98D2-4B34-9266-16090039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8FABAD-C522-449E-BD9B-53A7CC47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250 cm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9274D2-2FA6-47A4-AD9E-C3ACA927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Attack 승격 대기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44BE40-19EA-409C-8E3E-4A3748AE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E5E7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2DFB6B-A0C0-4F62-8692-D78F4DE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71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3DDDFD-B20E-4A8A-8D4B-5899A8F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HOLDING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E7D93E-888D-458B-82ED-F6FB9BDD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5C67CE-FAAE-49D8-9D5F-DDFE4E9E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14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400 cm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32E055B-59DF-48E5-83A3-D62E5DF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148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Wait 승격 대기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BE9A6F-ECCA-47F0-9C06-90C41B48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24F8D5D-75A0-4A06-962E-9821D530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914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233DCC-4338-401D-9DFF-6507433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577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PENDING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4BD3D0-E754-476B-A380-3DEC653E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∞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D457392-252D-45F1-B09D-7D13ABC7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57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575 cm+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2E4BEA-7738-46B6-83F6-F01C9CBB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577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예약 초과 외곽 분산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BAF93D3-C408-4272-8789-C147B9F7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4953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4F60E4-81EA-4C6E-9B63-0C34DE18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054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30번째 Enemy부터 Pending Queue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1CC8F28-7DCB-466D-959A-F73C6C9A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60DA65-B063-40EC-AF6E-BF4D539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0104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09BA0B-5169-4D44-B6E4-CFE4CB88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SPACE ADAPTATION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13416-CF5D-4304-BAC7-64D1333B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공간 형태가 바뀌면 대형도 바뀐다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98D6A-B5A8-4218-B97C-3EDFFCFF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플레이어 주변 NavMesh를 0.2초마다 16방향으로 탐침해 Open·Corridor·Pocket을 판정한다.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6CECE-81D1-4261-901C-C5EE2EAD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5B5BE-00B9-4F44-8215-EAA21BA8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238500" cy="333375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CF293-557A-493F-849D-61C8DFC1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OPEN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18573-AB84-443D-8D8D-10AB1E4D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479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F2C5B-9A0B-4BF2-9954-FDF5F369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57425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원형 포위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6B0DF-8E3C-479B-9D6A-57B61392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57400"/>
            <a:ext cx="3238500" cy="333375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DA44F-82F1-4E68-96EE-F3711C1B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CORRIDOR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A1B46-A0C7-4ACB-B5D4-39AF3A52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462CC-C66A-4B0F-B02B-CD0ECFCC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양방향 종대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20F56-9AF7-4DA5-BB81-FBF2E208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57400"/>
            <a:ext cx="3238500" cy="333375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BE9A6-84BC-490E-B406-748CA91E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POCKET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71C7F-C7C6-4A58-BEA1-70FA182D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479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BF0E0-38C4-4FE5-B616-D897419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57425"/>
            <a:ext cx="106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열린 쪽 부채꼴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45C7D-D996-446D-B494-5173C270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05125"/>
            <a:ext cx="1809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12F2C-4F35-446F-84BF-E4498AD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57550"/>
            <a:ext cx="1104900" cy="1104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D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0E40E-4BDC-4DE4-A91D-A0337399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48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1F2CE-EB21-495B-BA7F-0E60C494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190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37AAF-0516-47BE-B4D7-6BE64C47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586" y="357260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89607-2C24-4119-A9EA-2BCF384C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897" y="419026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A894B-59A8-4522-8290-BCC2BDDA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453" y="419026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011AB-E67E-4F30-B845-43C332AC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64" y="357260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D6D3C-7C92-43E8-B89D-5F131D73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300" y="393738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C4BD1-BB4D-43C5-A0F9-564DFCB0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434" y="451181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A6314-682A-4053-AB93-81295DF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692" y="4644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94FA67-D197-4D97-9C8D-61BEC04C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256" y="425758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F3051-334C-4417-88EA-35E4248C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25" y="3577842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DA95E-F559-407E-AE11-80D4300D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91" y="3003406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CF024-1449-414E-8945-F784B334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33" y="287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CDE95-759C-4786-9212-249247D2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69" y="325764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842900-7ADB-4C70-8FD8-655013A5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넓은 공간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9FFD23-3024-4002-AB8E-FA530F9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476500" cy="20574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F04C0-6DAB-463C-8C69-9EFC3CB1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0350"/>
            <a:ext cx="1447800" cy="2057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8F8DFE-7DBC-4FE9-9117-70845D5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648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A63CFF-4F4B-44FF-92EA-EE4302B6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2F8FEC-770C-4631-94F5-FF4AE4D9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DD444C-0E2E-4379-8DB1-E4F2A4ED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255904-FAC1-4A90-8D22-763FA364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FCD116-C2CB-40C0-8844-AF639C73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21EE5F-E45A-4F6F-9E17-1912B50D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CE8C8C-4EF4-4BA1-9EFE-E746E72E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D2F386-FC57-43BA-8698-ADF7FD1D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E22CAE-FEF0-44A3-9E46-3E34075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847911-1DD2-49A0-A91D-766FC589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9C118C-266C-4446-91FF-DFCB5E77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70C114-E1A4-4247-AFCD-BE3D69B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A01499-7A99-4415-84F9-8F548EE8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E5B120-D54F-49D7-895E-C52A87B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9D024A-7FD7-426A-845E-3342A6AC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8AA88A-5C60-450C-B4D8-0351B9F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2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067663-6582-4DAD-B7E4-177AB36E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벽을 횡단하지 않는 Side × Lane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212A6A-C9AC-4318-9427-A622654F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2819400" cy="18669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756955-9A01-46B0-B34F-848E4021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838200" cy="1866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D6D55E-53A3-43C1-934F-892F2EE9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28194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5B1249-6CC7-4851-A1AE-B660E432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2819400" cy="495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E41C6B-3802-459E-A47F-876A5D31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95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050DCD-F568-4EF8-96BB-FF0BE182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415" y="3386156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53E8FC-6746-47F6-82E5-A62B4C4D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741" y="319566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75C021-9B5A-44A6-B841-6A602E67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23" y="357998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AB7B95-6B54-404C-8A0A-2739DB82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03" y="34864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B9B07B-F9CF-4AB2-B82D-BF84DAC2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138" y="37957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96CB0D-A298-489B-9FDF-6D44A157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87D78E-ADB0-4B2A-8FEF-A1375AC9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23" y="4011442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C7CB1E-13B8-477F-9BCA-F88F08D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03" y="413359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EEBBE1-C7A8-4FF6-8A9A-9CF538F5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415" y="4205269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E9BDF6-2664-4B1A-86AB-83C7F500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741" y="442433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51ADDD-3D26-4A23-BDA7-E62C56FC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벽 반대편 열린 호에 압축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074202-929B-40AB-8C0C-10DE91C1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363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3EB23CA-FDFB-42B2-893D-BC869700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히스테리시스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ACA713-9CEC-4BF1-9894-74EE99D9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054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진입·이탈 임계값과 유지 시간을 분리해 경계에서 대형이 깜박이지 않게 했다.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EE8DBD-6E2E-4502-8B6E-1198BC20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D9C6E3-AE3C-42BF-9CBC-6B00BC3E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976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14426E-D9F3-4B01-9860-3084B2D3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 · CORRIDOR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65A69-7210-432A-9189-FB08555A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좁은 통로에서는 ‘추월 없는 두 전선’으로 바뀐다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B6E5E-5960-44BE-823B-04BD5C2F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Enemy가 어느 쪽에서 진입했는지 Side를 고정하고, Side × Lane별 독립 Queue를 유지한다.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0B193-D2E2-4BE5-9E65-DD2BB0A8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6E360-D2FD-4109-ADCC-380B8B32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819900" cy="381000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3A899-5630-45AC-8AA5-28D13B94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62103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2FB55-0579-465C-B2B6-C9A784DD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62103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AB1B0-B887-4151-9173-FDAFE91D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9560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E31AC-AA67-420D-B45E-AD83DB05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94991-26DC-4880-91F0-F1109B5F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909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E4C98-F2EB-4930-8C67-8D7B9BBE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D1D22-530C-4055-83B2-C4B1CC8A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F4F6F-367D-4506-AF8D-F949F7BD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373C5-F57F-4F97-90EE-51B022C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11D8B-5E2B-4CDF-860C-853E782A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551E0-520D-49B2-AEEE-849F2E8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4FB4E-6D24-4E44-949C-0EA35C42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AAE15-91BA-4F51-B039-1A491AC0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96969-C20D-4447-B238-DD3BB0E6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5EF2A-1A2F-44C1-A469-30C656FC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7304A-61FC-4CF0-94E9-1D7AB7A7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AF204-33F6-46A5-9A57-9D2A5A16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0AA39-2805-434C-9044-C9E71F5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3032C-28AD-450E-A5EB-12F9DAA8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59D77-44EF-4716-AC97-1B7FB113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DFACC-24AA-4DF0-8838-B2395908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C9CCEE-2F70-472D-9285-B9FE68C1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SIDE 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0E2F35-B23F-4EDE-BD01-354F83DC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SIDE 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48EEC-58F5-4E3C-B26C-DE957947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337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Lane 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19DB1D-8EBA-4D8D-9145-4F0CCA96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Lane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C09CEC-A448-465B-B928-DA993CC4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플레이어 횡단 금지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64FA71-6DC9-4078-80FC-4A43C6ED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DAC1C-1797-462B-91B2-5AA8C3C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4444A4-0C11-4620-8C3B-C54997E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050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SIDE 고정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B16C78-7BCD-4B89-BF54-0DFC2E22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통로 진입 위치를 축에 투영해 양쪽 중 하나를 유지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250A81-AE77-4E1B-95E5-7B2118FC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35AF10-0C1B-487E-9EEA-0E72657A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1AC272-F869-43A5-B45C-685F8E34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194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CHANNEL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21463A-D248-40E8-99A6-0DABC2A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Side × Lane 조합별로 Wait·Holding·Pending을 배열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5D9D24-48AF-465A-9415-E0BEFC5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8E0411-4D48-470D-A642-D6F6453A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07A8CF-26E2-4A7A-BBCF-EF3CF367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338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승격 제한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F639E8-CECA-468C-8E41-62301B0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291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같은 Channel 안에서만 앞자리로 승격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18B022-BC21-4EAE-AC97-5A0BC16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76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59C1E7-3972-4E9F-B582-D1BB2901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BD6DAA-D11C-4839-AED7-28BE2683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482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가변 전열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08F495-4062-4DB0-8FB8-A414243B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4350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폭에 따라 Attack 2·4·5명, 5명은 3/2 분배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65EC5B-5D43-4C4E-A146-FA5AA6B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AD03C5-979D-4FCE-8BF0-829FA35B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9264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8C059C-81F1-4D39-8DE0-21692D99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07 · QUEUE &amp;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C80E8-A05D-4CB8-AD80-F16C09EC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빈자리는 빠르게 채우되, 순서와 도달 가능성을 지킨다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D2E7D-8954-4188-91C6-1FE1EF7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승격은 단순 FIFO가 아니라 도착·경로·혼잡·실패 이력을 함께 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9CE51-FA3A-4A86-B044-CCF9632C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DFF5E-FEEA-49FC-985F-EFE0BA3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9240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3044C-C6DF-4FA4-B084-602842DF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9240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677D0-D1E0-4C3A-A410-A39537F6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3DF89-E2FC-4AD1-86C2-E8320DBD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예약 초과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1D4C0-62A5-4EC6-A756-08F3F404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0"/>
            <a:ext cx="19240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43D79-D251-4E76-8EF8-75C1427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0"/>
            <a:ext cx="19240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FCFDD-287A-4A74-949E-5FF53462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HOLDING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13489-2F9E-4606-9377-BA1B810F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05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16자리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A5433-D5AA-470E-A9FA-2A2B4097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86000"/>
            <a:ext cx="19240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C9542-E194-4330-BABE-98793D5C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86000"/>
            <a:ext cx="19240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38A66-80B1-43D2-A0A8-6FFC5B9E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WAIT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BE5B6-4F1D-41FD-9611-0266984C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05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8자리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8B76D-9D9B-4FAB-A30E-AFB36AEE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19240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19FAB-1865-4FDB-93F1-0AA64CEA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19240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20F36-3F71-45E1-BCFA-D36131E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ATTACK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FDE68-45D0-4FC4-B86E-F5F4A39D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5자리</a:t>
            </a:r>
          </a:p>
        </p:txBody>
      </p:sp>
      <p:cxnSp>
        <p:nvCxnSpPr>
          <p:cNvPr id="6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4795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10540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562850" y="28194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C2AE5-F5CE-47E5-B531-78713A6B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BD158C-4DEC-40A1-8B92-9A5F207D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C547B-742E-45E3-83DE-B3D5D318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현재 Slot 60 cm 이내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7C495-1297-4AA9-A107-C9366B77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290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31626-E931-45FE-A457-3BB51A3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385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54B23B-9172-4EF0-96CF-60DCB8B0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386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완전한 Nav 경로 존재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F98B1D-7F82-4A7D-9869-5AE7CD9B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290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BE8F2-4D20-44A4-88F5-C747C8C1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385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혼잡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5E207-779C-4C81-A6DB-6AAB0E74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386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경로 주변 Agent 수 비교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ABDA2A-A92F-4A70-A9B4-2F7AEE44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A29155-3060-46CD-B5E8-D84F5DE0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385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73A62F-83AF-4A12-95D3-A3B44027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동점이면 Queue Sequence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B7EF8E-578F-44C8-A05B-D59EA53D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96012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D0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C4D6E-16AE-4C3D-B08F-9EA1FA74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D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5D68"/>
                </a:solidFill>
                <a:latin typeface="Malgun Gothic"/>
                <a:ea typeface="Malgun Gothic"/>
                <a:cs typeface="Malgun Gothic"/>
              </a:rPr>
              <a:t>2초 WATCHDOG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C32E0D-0A29-4BC2-8D93-E5485945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625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진행량 &lt; 20 cm · 속도 &lt; 10 cm/s가 지속되면 교착으로 판정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7509D6-31CC-4238-BDBE-1F3C2B01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959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실패 Slot 2초 재예약 제외 → 예약 반납 → Queue Sequence를 보존한 채 재시도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34AA03-A2D4-4A42-818E-48953888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99764B-6AFB-4463-81B1-41DC293F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5395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78033B-9B88-471F-9374-5DB34105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08 · MOVEMENT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6EF63-439F-4FF2-8D43-1FDECC1A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‘정확한 자리’보다 ‘멈추지 않는 움직임’을 우선했다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C8EC3-D3FB-437C-9219-83F345DD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목적지 갱신·감속·회전의 타이밍을 분리해 타일처럼 끊기는 이동을 줄였다.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C55BB-2EE2-4D32-BD07-F9D1718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A9A67-F58C-42A4-A7A4-49BB7793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219700" cy="39052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31E30-822C-43F1-9290-8DDF4A9E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PLAYER MOVES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86AA2-8C0A-406B-8523-08ADC1AE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263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DD765-B7E0-4B11-80A4-4D03EF6D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6932D-8FED-4125-91D4-30EAD7B8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19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2238"/>
                </a:solidFill>
                <a:latin typeface="Malgun Gothic"/>
                <a:ea typeface="Malgun Gothic"/>
                <a:cs typeface="Malgun Gothic"/>
              </a:rPr>
              <a:t>t0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14C85-7F68-4044-8787-640B6BAC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85276-A6E5-4146-9AFC-4E5CDB55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19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2238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EB82E-7A3A-483F-B2B2-71F1E73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3375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303C2-C0C9-4FC3-94C1-9B5A9C52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09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플레이어 이동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38035-053B-4A20-B1A8-EB92E08A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162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D6FC6-4CCC-4061-A057-2F76675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62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21B94-03B0-4457-A674-0F511ED4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05300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C8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EAAEC-4D6F-4ABD-88DA-EC7D0B61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Engagement Anchor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5C5F5-5BFE-4328-9313-8F055638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3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AD3E2"/>
                </a:solidFill>
                <a:latin typeface="Malgun Gothic"/>
                <a:ea typeface="Malgun Gothic"/>
                <a:cs typeface="Malgun Gothic"/>
              </a:rPr>
              <a:t>최대 175 cm 늦게 따라와 집단 군무를 완화</a:t>
            </a:r>
          </a:p>
          <a:p xmlns:a="http://schemas.openxmlformats.org/drawingml/2006/main">
            <a:pPr algn="l">
              <a:defRPr sz="1125" b="0">
                <a:solidFill>
                  <a:srgbClr val="CAD3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AD3E2"/>
                </a:solidFill>
                <a:latin typeface="Malgun Gothic"/>
                <a:ea typeface="Malgun Gothic"/>
                <a:cs typeface="Malgun Gothic"/>
              </a:rPr>
              <a:t>플레이어가 멈추면 0.35초 후 중앙으로 복귀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984DD-E03F-4BEF-AC72-23A530DD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760AA-1EAE-4773-99A0-DA639078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907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36DD5-E29A-4BCD-9559-212CBE98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가속 기반 이동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2F00D-EA24-490F-BB5D-A659DCB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Path Following이 CharacterMovement 가속·감속 사용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A31D1-49DE-46C9-9548-B3908932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2733B-F6E4-4890-A32E-F0EFE16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051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63EFB-062E-4126-97F6-8E9479B0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목표 재요청 제한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3A02E-A093-4DA2-87FB-FAD1A246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Wait 150 cm / Holding·Pending 250 cm 이동 시 갱신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EE602-AF68-45A4-B5D9-0CDB9828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0348FD-1C45-4DAB-97C4-EE9D1AF0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195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62C2C4-7F68-4AD9-95AC-9F4673C1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도착 판정 분리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6239C-A085-41EC-9429-C00B508C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허용 반경 진입 → 감속 → 5 cm/s 이하에서 정지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89F08B-1E98-48A5-88C1-C7005D41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6A054-8301-4F3D-ADE4-B5BC17D1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933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01DBD3-6D6C-48EE-ACDD-BD93C4A9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시선 규칙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E71028-08F2-4250-8319-F181C835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Formation에서는 Player Focus를 유지해 게걸음 표현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1B38FC-BEAE-4465-99ED-9523869C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27835F-2C93-4499-A300-4A439EB0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4779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3B60E4-F53E-4B89-AD2C-3F00A85D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09 ·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CF351-F64F-4532-A7EA-63D8CD75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죽음도 이동 시스템의 자원 순환에 포함된다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B78C-475D-41FA-B81B-F247CB47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시체 연출을 보존하면서 활성 Enemy 수를 제한하는 Object Pool 정책을 설계했다.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7A3A1-950B-4DB7-A4C1-74F4D2A6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5688F-4767-44AD-A4B2-04487DFA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76450" cy="2095500"/>
          </a:xfrm>
          <a:prstGeom xmlns:a="http://schemas.openxmlformats.org/drawingml/2006/main" prst="roundRect">
            <a:avLst>
              <a:gd name="adj" fmla="val 9174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40121-2186-4B34-8BD7-2B40BF1B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E2834-0080-4467-8CC0-23751C1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384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F4338-3A89-4D15-A75E-1417341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ALIVE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960CB-8276-4AA8-93A6-171E2A02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Slot 점유</a:t>
            </a:r>
          </a:p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추격·포위·공격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66A64-970B-4031-BB9F-E46D0A83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2076450" cy="2095500"/>
          </a:xfrm>
          <a:prstGeom xmlns:a="http://schemas.openxmlformats.org/drawingml/2006/main" prst="roundRect">
            <a:avLst>
              <a:gd name="adj" fmla="val 9174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2E987-CDA3-445D-9A7C-AD6E1636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D3673-E255-41D4-97E9-F709265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384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6EAD0-3687-44B5-A207-015D262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CORPSE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291CD-C8D0-41C4-BD34-DED5DE0D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38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사망 Montage 마지막 포즈</a:t>
            </a:r>
          </a:p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현장에 시체 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FD933-EFB0-4BC2-B359-E80287DE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81250"/>
            <a:ext cx="2076450" cy="2095500"/>
          </a:xfrm>
          <a:prstGeom xmlns:a="http://schemas.openxmlformats.org/drawingml/2006/main" prst="roundRect">
            <a:avLst>
              <a:gd name="adj" fmla="val 9174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FDC44-8A04-4C96-9FDE-D041B6F3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3D9D3-FC3C-4855-A0D0-7B3B59FC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384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3F789-94FF-4F05-A71D-66FC6A5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RECYCLE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FAC17-5300-43BE-8409-01432CBC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비활성 여분이 없을 때</a:t>
            </a:r>
          </a:p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가장 오래된 시체 회수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BAF59-30B8-411F-9721-8909EADD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2076450" cy="2095500"/>
          </a:xfrm>
          <a:prstGeom xmlns:a="http://schemas.openxmlformats.org/drawingml/2006/main" prst="roundRect">
            <a:avLst>
              <a:gd name="adj" fmla="val 9174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0FA19-8585-46F0-8A3F-C77606C1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9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94298-7013-49F7-8448-439BA856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384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82DA9-7004-447B-8E83-0BBF02B1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RESPAWN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731BC-FCAE-4350-ADB5-5DCB019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등록 Spawn Point에서</a:t>
            </a:r>
          </a:p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Enemy 재활성화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62250" y="34290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57800" y="34290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753350" y="34290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B5071-9D84-419A-8CB5-5BF6CE26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95631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B70225-F7C3-42E6-8B57-65E8EA72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연출과 최적화의 타협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ED3812-ACE5-4592-91B6-B5274765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‘5초 뒤 삭제’가 아니라, 새 Enemy가 필요해질 때만 시체를 Pool로 돌려보낸다.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F1B35E-8B08-47AC-B333-8EF2D8B4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7212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AD3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AD3E2"/>
                </a:solidFill>
                <a:latin typeface="Malgun Gothic"/>
                <a:ea typeface="Malgun Gothic"/>
                <a:cs typeface="Malgun Gothic"/>
              </a:rPr>
              <a:t>사망·경직 시 Slot 반납은 즉시 처리해 대형 교착을 방지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3BA349-1B33-47EA-8D93-06C1C85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5595E8-0D62-40BE-A6D9-29433ABC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3998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7EF62D-D479-4490-9396-FC7DB07C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 ·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91EEC-02EF-40A5-9695-5146211B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규칙을 코드·데이터·디버그 표면으로 연결했다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AFC1D-ECE9-4E41-89AD-1DA85E30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에디터에서 조정 가능한 수치와 런타임 가시화를 함께 제공한다.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FCE49-5BB9-4B75-8515-0CAE0E11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62B17-FFDF-45D9-8A21-A1A4F533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구성 요소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B5AB2-F12A-411F-BB28-AE418FF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560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책임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4A8C5-1222-4B55-A925-EB3BAC2B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38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표면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86030-836D-4938-A47D-F6BE8F81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3632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E5E7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20A0C-D77F-46F4-9CF4-ADEB7C9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CombatEngagementSlotComponent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C7B42-4749-42BE-9AC8-48E9ADBB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14600"/>
            <a:ext cx="569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공간 분석 · Slot 예약 · Queue · 승격 · 대형 변환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81166-18D4-45D7-BEBE-B1F90128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86025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B2ACF-B030-43F0-92FF-CA8E6AF3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955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C++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6DB59-6ADC-47EB-A658-7702D151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3632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11977-9B1C-49C9-8CDA-4F456453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BHCrowdEnemyAIController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C275D-65D5-4932-8A83-9EA2156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569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추격 · Move 요청 · Detour Crowd · Watchdog · Facing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3D643-5038-43C4-8278-0A251E12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52775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B1DD1F-60F3-429E-B010-174619EF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C++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47C72-B71D-43A9-9AF5-8AE7F11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3632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E5E7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6B551-58B2-4123-97B6-8C69EA6F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BHEnemyPoolManager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1E43F-70FE-4C93-A7A8-94895F0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569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활성 상한 · 시체 목록 · 회수 · Spawn Point 재활성화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76E22-98AE-4DBE-AEF5-07321799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9525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A8F85-F1AF-42AC-A698-1E5114F9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290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C++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8D43B-E1CA-4A8C-98C2-E16EF7CB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3632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BCBE7-726E-4A64-B580-BE2B8A98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Enemy Data Asset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E72FF-2B74-404D-8AAA-EC4318EE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14850"/>
            <a:ext cx="569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기본 이동·공격 수치와 에셋 의존성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5176B-53BE-4F44-8195-674441B1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86275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C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05AE3-8804-4C69-9C84-CE428CEB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9580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1116F-764D-4AE8-A967-4B6767F4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3632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8D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6F916-3979-4065-9B37-4C2E08A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59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RUNTIME DEBUG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6C0B80-4D68-4674-B1DA-FDBFEE86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483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bh.Debug.Enabled · Slots · Crowd · Pool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F8747F-EDE5-4B49-B60E-30BCA51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67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F6672"/>
                </a:solidFill>
                <a:latin typeface="Malgun Gothic"/>
                <a:ea typeface="Malgun Gothic"/>
                <a:cs typeface="Malgun Gothic"/>
              </a:rPr>
              <a:t>빌드: UE 5.7 Development Editor 성공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CEC9E-24E3-43FB-B7C7-74181CBD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PROJECT BH · MONSTER MOVEMENT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C90750-2808-4358-98FF-0E119B77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A919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58005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745D0D-4CD3-466B-8805-4668C417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11 · VALIDATION &amp;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FC11F-865C-4DCF-9B7C-DB1C900B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구현은 끝이 아니라,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행동 품질을 증명하는 단계로 이어진다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59B0A-BC67-49FC-909A-9C2C82D7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238500" cy="278130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1C2B47"/>
          </a:solidFill>
          <a:ln xmlns:a="http://schemas.openxmlformats.org/drawingml/2006/main" w="9525">
            <a:solidFill>
              <a:srgbClr val="354A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DBC69-2C73-4285-A336-318FEE1F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5FC6C-B3F2-4FF1-A75C-7B6A251F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FF488-BCCC-469C-B072-131166D0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4 → 8 → 12 → 30+ Enemy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E8756-1865-4F9A-B4A1-245A7627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C4EC9-564D-425C-BC90-69392984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Open / Corridor / Pocket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AECD-9BBC-4AB4-9FBA-6517569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24F90-8122-4A4A-A658-CF9E54D9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플레이어 이동·정지·구석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A8D4E-839D-4A9B-93D6-95528762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74C5C-E05F-44B2-A385-BFEC6FC9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사망·경직·교착·재스폰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61113-C23E-40D6-9389-3E579900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19350"/>
            <a:ext cx="3238500" cy="278130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223454"/>
          </a:solidFill>
          <a:ln xmlns:a="http://schemas.openxmlformats.org/drawingml/2006/main" w="9525">
            <a:solidFill>
              <a:srgbClr val="354A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844EC-C789-4C0A-AE39-4BE03D70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현재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12D27-5E3F-4413-9D52-3196F90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53864-9751-42EE-AAD5-B8B76EBB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핵심 이동·예약 로직 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E2ADC-F257-4C21-97E3-377BE738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B5B47-F9FE-4FCD-A157-389712B6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62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런타임 디버그 토글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F4415-43E1-4CC4-AD69-1D5B8D03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3A963-C8CE-4ADE-92BB-657040C3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UE 5.7 에디터 빌드 성공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D0400-CCD5-4B87-B7D0-73A76E08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211C4-5EAA-4F52-B5A8-E476FE51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최신 대형은 PIE 검증 필요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B52F5-0020-4C55-AB57-357E4D9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238500" cy="278130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1C2B47"/>
          </a:solidFill>
          <a:ln xmlns:a="http://schemas.openxmlformats.org/drawingml/2006/main" w="9525">
            <a:solidFill>
              <a:srgbClr val="354A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C319E-06CF-4406-843C-4EE674DA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47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포트폴리오 증거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AE7D2-0760-4405-B93A-36E2EB57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260882-ADAB-4262-A0E1-BFE53D8C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대형 전환 전후 영상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A0CF7-A174-411E-81F8-E70D0C58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000B4-4833-43E2-868C-CAA82B0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Slot/Queue 디버그 오버레이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5B38E-C02A-43A4-A731-D06BC7ED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17A596-A365-41CE-ADA2-34243B1C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실패 재현과 개선 비교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DC0EF-8439-452F-8D59-E074DFC9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49EE3-D8D4-4A65-B6F7-5F1B6BC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2E8F2"/>
                </a:solidFill>
                <a:latin typeface="Malgun Gothic"/>
                <a:ea typeface="Malgun Gothic"/>
                <a:cs typeface="Malgun Gothic"/>
              </a:rPr>
              <a:t>성능·혼잡 지표 캡처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1168D7-22F4-4556-A00B-75E4A9BE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3632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586705-A5E7-4D73-B69B-9CCD370F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PORTFOLIO THESIS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617DFB-C1D0-4BCE-93F8-38BA45EE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76900"/>
            <a:ext cx="803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318"/>
                </a:solidFill>
                <a:latin typeface="Malgun Gothic"/>
                <a:ea typeface="Malgun Gothic"/>
                <a:cs typeface="Malgun Gothic"/>
              </a:rPr>
              <a:t>길찾기는 엔진에 맡기고, ‘몬스터 떼가 어떻게 행동할지’는 직접 설계했다.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C2ECA-A449-4465-A030-17A044C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A1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8EA1B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11331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2026-08-29T16:31:17.1040000Z</dcterms:created>
  <dcterms:modified xsi:type="dcterms:W3CDTF">2026-08-29T16:31:17.1040000Z</dcterms:modified>
</coreProperties>
</file>